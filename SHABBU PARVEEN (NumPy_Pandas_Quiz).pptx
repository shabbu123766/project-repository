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25DEF2-264E-4DC4-8861-8899753EBF08}" v="25" dt="2026-02-23T10:22:51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70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dirty="0">
                <a:highlight>
                  <a:srgbClr val="FFFFFF"/>
                </a:highlight>
              </a:rPr>
              <a:t>SHABBU PARVEEN</a:t>
            </a:r>
            <a:endParaRPr lang="en-IN" dirty="0">
              <a:highlight>
                <a:srgbClr val="FFFFFF"/>
              </a:highlight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dirty="0">
                <a:highlight>
                  <a:srgbClr val="FFFFFF"/>
                </a:highlight>
              </a:rPr>
              <a:t>Sogeti L01</a:t>
            </a:r>
            <a:endParaRPr lang="en-IN" dirty="0">
              <a:highlight>
                <a:srgbClr val="FFFFFF"/>
              </a:highlight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dirty="0">
                <a:highlight>
                  <a:srgbClr val="FFFFFF"/>
                </a:highlight>
              </a:rPr>
              <a:t>6400859</a:t>
            </a:r>
            <a:endParaRPr lang="en-IN" dirty="0">
              <a:highlight>
                <a:srgbClr val="FFFFFF"/>
              </a:highligh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_23 </a:t>
            </a:r>
            <a:r>
              <a:rPr lang="en-US" sz="1200" dirty="0" err="1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2026_____________________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__A_____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____D___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____C___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____A___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____B___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___A____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__C_____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__C_____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8503920" cy="256032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b="1" dirty="0">
                <a:highlight>
                  <a:srgbClr val="FFFFFF"/>
                </a:highlight>
              </a:rPr>
              <a:t>Split–Apply–Combine</a:t>
            </a:r>
            <a:r>
              <a:rPr lang="en-US" dirty="0">
                <a:highlight>
                  <a:srgbClr val="FFFFFF"/>
                </a:highlight>
              </a:rPr>
              <a:t> in </a:t>
            </a:r>
            <a:r>
              <a:rPr lang="en-US" b="1" dirty="0" err="1">
                <a:highlight>
                  <a:srgbClr val="FFFFFF"/>
                </a:highlight>
              </a:rPr>
              <a:t>groupby</a:t>
            </a:r>
            <a:r>
              <a:rPr lang="en-US" b="1" dirty="0">
                <a:highlight>
                  <a:srgbClr val="FFFFFF"/>
                </a:highlight>
              </a:rPr>
              <a:t>()</a:t>
            </a:r>
            <a:r>
              <a:rPr lang="en-US" dirty="0">
                <a:highlight>
                  <a:srgbClr val="FFFFFF"/>
                </a:highlight>
              </a:rPr>
              <a:t> means:</a:t>
            </a:r>
          </a:p>
          <a:p>
            <a:r>
              <a:rPr lang="en-US" b="1" dirty="0">
                <a:highlight>
                  <a:srgbClr val="FFFFFF"/>
                </a:highlight>
              </a:rPr>
              <a:t>Split:</a:t>
            </a:r>
            <a:r>
              <a:rPr lang="en-US" dirty="0">
                <a:highlight>
                  <a:srgbClr val="FFFFFF"/>
                </a:highlight>
              </a:rPr>
              <a:t> Data is divided into groups based on one or more columns.</a:t>
            </a:r>
          </a:p>
          <a:p>
            <a:r>
              <a:rPr lang="en-US" b="1" dirty="0">
                <a:highlight>
                  <a:srgbClr val="FFFFFF"/>
                </a:highlight>
              </a:rPr>
              <a:t>Apply:</a:t>
            </a:r>
            <a:r>
              <a:rPr lang="en-US" dirty="0">
                <a:highlight>
                  <a:srgbClr val="FFFFFF"/>
                </a:highlight>
              </a:rPr>
              <a:t> A function (like sum, mean, count) is applied to each group.</a:t>
            </a:r>
          </a:p>
          <a:p>
            <a:r>
              <a:rPr lang="en-US" b="1" dirty="0">
                <a:highlight>
                  <a:srgbClr val="FFFFFF"/>
                </a:highlight>
              </a:rPr>
              <a:t>Combine:</a:t>
            </a:r>
            <a:r>
              <a:rPr lang="en-US" dirty="0">
                <a:highlight>
                  <a:srgbClr val="FFFFFF"/>
                </a:highlight>
              </a:rPr>
              <a:t> Results from all groups are merged into a single output.</a:t>
            </a:r>
          </a:p>
          <a:p>
            <a:r>
              <a:rPr lang="en-US" b="1" dirty="0">
                <a:highlight>
                  <a:srgbClr val="FFFFFF"/>
                </a:highlight>
              </a:rPr>
              <a:t>Example:</a:t>
            </a:r>
            <a:r>
              <a:rPr lang="en-US" dirty="0">
                <a:highlight>
                  <a:srgbClr val="FFFFFF"/>
                </a:highlight>
              </a:rPr>
              <a:t> In a sales dataset, </a:t>
            </a:r>
            <a:r>
              <a:rPr lang="en-US" dirty="0" err="1">
                <a:highlight>
                  <a:srgbClr val="FFFFFF"/>
                </a:highlight>
              </a:rPr>
              <a:t>groupby</a:t>
            </a:r>
            <a:r>
              <a:rPr lang="en-US" dirty="0">
                <a:highlight>
                  <a:srgbClr val="FFFFFF"/>
                </a:highlight>
              </a:rPr>
              <a:t>("Product").sum() groups sales by each product and </a:t>
            </a:r>
          </a:p>
          <a:p>
            <a:r>
              <a:rPr lang="en-US" dirty="0">
                <a:highlight>
                  <a:srgbClr val="FFFFFF"/>
                </a:highlight>
              </a:rPr>
              <a:t>calculates total sales, helping businesses see which product performs best.</a:t>
            </a:r>
          </a:p>
          <a:p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 sz="1400" b="1" dirty="0">
              <a:highlight>
                <a:srgbClr val="C0C0C0"/>
              </a:highlight>
            </a:endParaRPr>
          </a:p>
          <a:p>
            <a:r>
              <a:rPr lang="en-US" sz="1400" b="1" dirty="0">
                <a:highlight>
                  <a:srgbClr val="FFFFFF"/>
                </a:highlight>
              </a:rPr>
              <a:t>Broadcasting in NumPy</a:t>
            </a:r>
            <a:r>
              <a:rPr lang="en-US" sz="1400" dirty="0">
                <a:highlight>
                  <a:srgbClr val="FFFFFF"/>
                </a:highlight>
              </a:rPr>
              <a:t> is a technique that allows arrays of different shapes to perform arithmetic operations by</a:t>
            </a:r>
          </a:p>
          <a:p>
            <a:r>
              <a:rPr lang="en-US" sz="1400" dirty="0">
                <a:highlight>
                  <a:srgbClr val="FFFFFF"/>
                </a:highlight>
              </a:rPr>
              <a:t> automatically expanding their dimensions without copying data.</a:t>
            </a:r>
          </a:p>
          <a:p>
            <a:r>
              <a:rPr lang="en-US" sz="1400" b="1" dirty="0">
                <a:highlight>
                  <a:srgbClr val="FFFFFF"/>
                </a:highlight>
              </a:rPr>
              <a:t>Broadcasting rules:</a:t>
            </a:r>
            <a:endParaRPr lang="en-US" sz="1400" dirty="0">
              <a:highlight>
                <a:srgbClr val="FFFFFF"/>
              </a:highlight>
            </a:endParaRPr>
          </a:p>
          <a:p>
            <a:r>
              <a:rPr lang="en-US" sz="1400" dirty="0">
                <a:highlight>
                  <a:srgbClr val="FFFFFF"/>
                </a:highlight>
              </a:rPr>
              <a:t>Dimensions are compared from right to left.</a:t>
            </a:r>
          </a:p>
          <a:p>
            <a:r>
              <a:rPr lang="en-US" sz="1400" dirty="0">
                <a:highlight>
                  <a:srgbClr val="FFFFFF"/>
                </a:highlight>
              </a:rPr>
              <a:t>Two dimensions are compatible if they are equal or one of them is </a:t>
            </a:r>
            <a:r>
              <a:rPr lang="en-US" sz="1400" b="1" dirty="0">
                <a:highlight>
                  <a:srgbClr val="FFFFFF"/>
                </a:highlight>
              </a:rPr>
              <a:t>1</a:t>
            </a:r>
            <a:r>
              <a:rPr lang="en-US" sz="1400" dirty="0">
                <a:highlight>
                  <a:srgbClr val="FFFFFF"/>
                </a:highlight>
              </a:rPr>
              <a:t>.</a:t>
            </a:r>
          </a:p>
          <a:p>
            <a:r>
              <a:rPr lang="en-US" sz="1400" dirty="0">
                <a:highlight>
                  <a:srgbClr val="FFFFFF"/>
                </a:highlight>
              </a:rPr>
              <a:t>If compatible, the array with dimension </a:t>
            </a:r>
            <a:r>
              <a:rPr lang="en-US" sz="1400" b="1" dirty="0">
                <a:highlight>
                  <a:srgbClr val="FFFFFF"/>
                </a:highlight>
              </a:rPr>
              <a:t>1</a:t>
            </a:r>
            <a:r>
              <a:rPr lang="en-US" sz="1400" dirty="0">
                <a:highlight>
                  <a:srgbClr val="FFFFFF"/>
                </a:highlight>
              </a:rPr>
              <a:t> is stretched to match the other.</a:t>
            </a:r>
          </a:p>
          <a:p>
            <a:r>
              <a:rPr lang="en-US" sz="1400" b="1" dirty="0">
                <a:highlight>
                  <a:srgbClr val="FFFFFF"/>
                </a:highlight>
              </a:rPr>
              <a:t>Example:</a:t>
            </a:r>
            <a:r>
              <a:rPr lang="en-US" sz="1400" dirty="0">
                <a:highlight>
                  <a:srgbClr val="FFFFFF"/>
                </a:highlight>
              </a:rPr>
              <a:t> Arrays with shapes </a:t>
            </a:r>
            <a:r>
              <a:rPr lang="en-US" sz="1400" b="1" dirty="0">
                <a:highlight>
                  <a:srgbClr val="FFFFFF"/>
                </a:highlight>
              </a:rPr>
              <a:t>(3,1)</a:t>
            </a:r>
            <a:r>
              <a:rPr lang="en-US" sz="1400" dirty="0">
                <a:highlight>
                  <a:srgbClr val="FFFFFF"/>
                </a:highlight>
              </a:rPr>
              <a:t> and </a:t>
            </a:r>
            <a:r>
              <a:rPr lang="en-US" sz="1400" b="1" dirty="0">
                <a:highlight>
                  <a:srgbClr val="FFFFFF"/>
                </a:highlight>
              </a:rPr>
              <a:t>(1,4)</a:t>
            </a:r>
            <a:r>
              <a:rPr lang="en-US" sz="1400" dirty="0">
                <a:highlight>
                  <a:srgbClr val="FFFFFF"/>
                </a:highlight>
              </a:rPr>
              <a:t> are broadcast to </a:t>
            </a:r>
            <a:r>
              <a:rPr lang="en-US" sz="1400" b="1" dirty="0">
                <a:highlight>
                  <a:srgbClr val="FFFFFF"/>
                </a:highlight>
              </a:rPr>
              <a:t>(3,4)</a:t>
            </a:r>
            <a:r>
              <a:rPr lang="en-US" sz="1400" dirty="0">
                <a:highlight>
                  <a:srgbClr val="FFFFFF"/>
                </a:highlight>
              </a:rPr>
              <a:t>.</a:t>
            </a:r>
          </a:p>
          <a:p>
            <a:r>
              <a:rPr lang="en-US" sz="1400" dirty="0">
                <a:highlight>
                  <a:srgbClr val="FFFFFF"/>
                </a:highlight>
              </a:rPr>
              <a:t>import </a:t>
            </a:r>
            <a:r>
              <a:rPr lang="en-US" sz="1400" dirty="0" err="1">
                <a:highlight>
                  <a:srgbClr val="FFFFFF"/>
                </a:highlight>
              </a:rPr>
              <a:t>numpy</a:t>
            </a:r>
            <a:r>
              <a:rPr lang="en-US" sz="1400" dirty="0">
                <a:highlight>
                  <a:srgbClr val="FFFFFF"/>
                </a:highlight>
              </a:rPr>
              <a:t> as np</a:t>
            </a:r>
            <a:br>
              <a:rPr lang="en-US" sz="1400" dirty="0">
                <a:highlight>
                  <a:srgbClr val="FFFFFF"/>
                </a:highlight>
              </a:rPr>
            </a:br>
            <a:r>
              <a:rPr lang="en-US" sz="1400" dirty="0">
                <a:highlight>
                  <a:srgbClr val="FFFFFF"/>
                </a:highlight>
              </a:rPr>
              <a:t>a = </a:t>
            </a:r>
            <a:r>
              <a:rPr lang="en-US" sz="1400" dirty="0" err="1">
                <a:highlight>
                  <a:srgbClr val="FFFFFF"/>
                </a:highlight>
              </a:rPr>
              <a:t>np.array</a:t>
            </a:r>
            <a:r>
              <a:rPr lang="en-US" sz="1400" dirty="0">
                <a:highlight>
                  <a:srgbClr val="FFFFFF"/>
                </a:highlight>
              </a:rPr>
              <a:t>([[1],[2],[3]])      # shape (3,1)</a:t>
            </a:r>
            <a:br>
              <a:rPr lang="en-US" sz="1400" dirty="0">
                <a:highlight>
                  <a:srgbClr val="FFFFFF"/>
                </a:highlight>
              </a:rPr>
            </a:br>
            <a:r>
              <a:rPr lang="en-US" sz="1400" dirty="0">
                <a:highlight>
                  <a:srgbClr val="FFFFFF"/>
                </a:highlight>
              </a:rPr>
              <a:t>b = </a:t>
            </a:r>
            <a:r>
              <a:rPr lang="en-US" sz="1400" dirty="0" err="1">
                <a:highlight>
                  <a:srgbClr val="FFFFFF"/>
                </a:highlight>
              </a:rPr>
              <a:t>np.array</a:t>
            </a:r>
            <a:r>
              <a:rPr lang="en-US" sz="1400" dirty="0">
                <a:highlight>
                  <a:srgbClr val="FFFFFF"/>
                </a:highlight>
              </a:rPr>
              <a:t>([[10,20,30,40]])    # shape (1,4)</a:t>
            </a:r>
            <a:br>
              <a:rPr lang="en-US" sz="1400" dirty="0">
                <a:highlight>
                  <a:srgbClr val="FFFFFF"/>
                </a:highlight>
              </a:rPr>
            </a:br>
            <a:br>
              <a:rPr lang="en-US" sz="1400" dirty="0">
                <a:highlight>
                  <a:srgbClr val="FFFFFF"/>
                </a:highlight>
              </a:rPr>
            </a:br>
            <a:r>
              <a:rPr lang="en-US" sz="1400" dirty="0">
                <a:highlight>
                  <a:srgbClr val="FFFFFF"/>
                </a:highlight>
              </a:rPr>
              <a:t>result = a + b</a:t>
            </a:r>
          </a:p>
          <a:p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03920" cy="923544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63D9CD77-3852-72F4-0A57-C5834EA428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5760" y="2379261"/>
            <a:ext cx="841248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Handling missing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– Used to remove or fill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values in datasets.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dropna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()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df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df.dropna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()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FF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Filtering rows based on condition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– Selects specific data that meets a condition.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Boolean indexing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df_filtered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df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df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 Unicode MS"/>
              </a:rPr>
              <a:t>["Marks"] &gt; 50]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1284</Words>
  <Application>Microsoft Office PowerPoint</Application>
  <PresentationFormat>On-screen Show (16:9)</PresentationFormat>
  <Paragraphs>250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Unicode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Shabbu Parveen</cp:lastModifiedBy>
  <cp:revision>2</cp:revision>
  <dcterms:created xsi:type="dcterms:W3CDTF">2026-02-22T18:36:13Z</dcterms:created>
  <dcterms:modified xsi:type="dcterms:W3CDTF">2026-02-23T10:27:15Z</dcterms:modified>
</cp:coreProperties>
</file>